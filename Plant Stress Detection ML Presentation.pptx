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>
        <p:scale>
          <a:sx n="107" d="100"/>
          <a:sy n="107" d="100"/>
        </p:scale>
        <p:origin x="456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3666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00138"/>
            <a:ext cx="79248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Learning–Based Plant Stress Detection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36897" y="2414588"/>
            <a:ext cx="56700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 of Ensemble Models with Feature Selection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87150" y="3138488"/>
            <a:ext cx="47695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Zahra Nazar Zadeh Attar, Iman Javaheri Neyestanak, Kasra Alizadeh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12174" y="3348038"/>
            <a:ext cx="25195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Maurizio Magarini • Prof. Silvia Mura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00220" y="3681413"/>
            <a:ext cx="2343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in Green Infrastructure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46302" y="3862387"/>
            <a:ext cx="10512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7775"/>
            <a:ext cx="7924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approach for plant stress detection using electrophysiological signals, targeting sustainable agriculture and green infrastructure.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19275"/>
            <a:ext cx="76200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Non-invasive plant sensing enables reliable stress identification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Resource-efficient and environmentally friendly monitoring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pipeline: preprocessing → windowing → feature extraction → classification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methods achieve highest performance on cross-validation and test data</a:t>
            </a:r>
            <a:endParaRPr lang="en-US" sz="1200" dirty="0"/>
          </a:p>
        </p:txBody>
      </p:sp>
      <p:pic>
        <p:nvPicPr>
          <p:cNvPr id="6" name="Picture 5" descr="A close up of a plant&#10;&#10;AI-generated content may be incorrect.">
            <a:extLst>
              <a:ext uri="{FF2B5EF4-FFF2-40B4-BE49-F238E27FC236}">
                <a16:creationId xmlns:a16="http://schemas.microsoft.com/office/drawing/2014/main" id="{4A2ABFC9-A14F-B7D5-BCE9-7249E0B51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862" y="3228975"/>
            <a:ext cx="5058275" cy="1626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08" y="781953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1116866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 0"/>
          <p:cNvSpPr/>
          <p:nvPr/>
        </p:nvSpPr>
        <p:spPr>
          <a:xfrm>
            <a:off x="473202" y="473202"/>
            <a:ext cx="3605820" cy="41089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Problem Overview</a:t>
            </a:r>
            <a:endParaRPr lang="en-US" sz="3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50800" y="373339"/>
            <a:ext cx="4258818" cy="425613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255511" y="473202"/>
            <a:ext cx="4012654" cy="410900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Environmental stress causes major crop loss and reduced productivity</a:t>
            </a:r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Delayed detection leads to irreversible damage and high costs</a:t>
            </a:r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Traditional methods struggle with complex physiological signals</a:t>
            </a:r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Early detection essential for timely intervention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B73D3AEB-8AA3-481D-9F6F-B80FE58DD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BD9FE98-387B-4EC6-A44D-C6F923034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0ECB61C-4F38-4328-A725-04E5F0773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3284BF3-6BC6-44CC-ADF6-E4960D78A7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35AA0C3-7A76-4191-B3F7-2539E508C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C35AE80-858A-49DA-A9CB-81007898A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D650277-0EB9-4CB6-956D-497DA1D39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AE3418C-CD44-4A66-968D-2E0A651B30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CE5F57F-7C8B-4F4D-8F22-776FC424E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 0"/>
          <p:cNvSpPr/>
          <p:nvPr/>
        </p:nvSpPr>
        <p:spPr>
          <a:xfrm>
            <a:off x="473202" y="473201"/>
            <a:ext cx="4098798" cy="2184274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Research Objective</a:t>
            </a:r>
            <a:endParaRPr lang="en-US" sz="3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4925E00-1519-483D-BEDE-3DB840745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10" y="781954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86A47AA-3999-4EE6-BC5C-502DAE57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1116866"/>
            <a:ext cx="41148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61D1278-3E86-430E-AC17-ECC407520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6A6D283-6CA9-43BF-B874-D4398E7B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B0A4FFB-2DB0-4461-87AD-20DBE6BCE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8731F8-C740-4802-8967-656BE04E9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AC26F14B-F98B-4B7D-AF0B-24D840F67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A745027-6B11-4363-8A2E-CB8EB38E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A55DA09-A260-44A9-B1D9-FAC678AD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0D6225A-20C6-43EE-9E11-2D9FC1192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F11E7EE-ABBB-40C5-AD9F-7228BA656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AA5D5FF-9E03-4A84-8627-0E744F5FC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1"/>
          <p:cNvSpPr/>
          <p:nvPr/>
        </p:nvSpPr>
        <p:spPr>
          <a:xfrm>
            <a:off x="473202" y="1295396"/>
            <a:ext cx="8244554" cy="44701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Develop a robust machine learning framework for plant stress detection using electrophysiological signals</a:t>
            </a:r>
          </a:p>
        </p:txBody>
      </p:sp>
      <p:sp>
        <p:nvSpPr>
          <p:cNvPr id="4" name="Text 2"/>
          <p:cNvSpPr/>
          <p:nvPr/>
        </p:nvSpPr>
        <p:spPr>
          <a:xfrm>
            <a:off x="914400" y="1952625"/>
            <a:ext cx="7620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spcAft>
                <a:spcPts val="600"/>
              </a:spcAft>
              <a:buSzPct val="100000"/>
              <a:buChar char="•"/>
            </a:pPr>
            <a:r>
              <a:rPr lang="en-US" sz="13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classification: stressed vs non-stressed</a:t>
            </a:r>
            <a:endParaRPr lang="en-US" sz="1350"/>
          </a:p>
          <a:p>
            <a:pPr marL="342900" indent="-342900">
              <a:lnSpc>
                <a:spcPts val="2430"/>
              </a:lnSpc>
              <a:spcAft>
                <a:spcPts val="600"/>
              </a:spcAft>
              <a:buSzPct val="100000"/>
              <a:buChar char="•"/>
            </a:pPr>
            <a:r>
              <a:rPr lang="en-US" sz="13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Non-invasive signal acquisition</a:t>
            </a:r>
            <a:endParaRPr lang="en-US" sz="1350"/>
          </a:p>
          <a:p>
            <a:pPr marL="342900" indent="-342900">
              <a:lnSpc>
                <a:spcPts val="2430"/>
              </a:lnSpc>
              <a:spcAft>
                <a:spcPts val="600"/>
              </a:spcAft>
              <a:buSzPct val="100000"/>
              <a:buChar char="•"/>
            </a:pPr>
            <a:r>
              <a:rPr lang="en-US" sz="13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sustainable agriculture and precision farming</a:t>
            </a:r>
            <a:endParaRPr lang="en-US" sz="13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08" y="781953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1116866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 0"/>
          <p:cNvSpPr/>
          <p:nvPr/>
        </p:nvSpPr>
        <p:spPr>
          <a:xfrm>
            <a:off x="473202" y="473202"/>
            <a:ext cx="3742438" cy="41089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Dataset Overview</a:t>
            </a:r>
            <a:endParaRPr lang="en-US" sz="3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50800" y="373339"/>
            <a:ext cx="4258818" cy="425613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31459" y="473202"/>
            <a:ext cx="3736705" cy="410900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36 plants, 5 species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Three stress types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24h normal + 24h stressed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500 Hz sampling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26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10" y="781954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1116866"/>
            <a:ext cx="411480" cy="549007"/>
            <a:chOff x="7029447" y="3514725"/>
            <a:chExt cx="1285875" cy="549007"/>
          </a:xfrm>
        </p:grpSpPr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 0"/>
          <p:cNvSpPr/>
          <p:nvPr/>
        </p:nvSpPr>
        <p:spPr>
          <a:xfrm>
            <a:off x="473201" y="3013602"/>
            <a:ext cx="3803416" cy="159719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Measurement Setup</a:t>
            </a:r>
            <a:endParaRPr lang="en-US" sz="3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close-up of a plant&#10;&#10;AI-generated content may be incorrect.">
            <a:extLst>
              <a:ext uri="{FF2B5EF4-FFF2-40B4-BE49-F238E27FC236}">
                <a16:creationId xmlns:a16="http://schemas.microsoft.com/office/drawing/2014/main" id="{9848E925-3530-2094-1C73-B3FFD2E9B7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931" b="3400"/>
          <a:stretch>
            <a:fillRect/>
          </a:stretch>
        </p:blipFill>
        <p:spPr>
          <a:xfrm>
            <a:off x="793332" y="463334"/>
            <a:ext cx="7492673" cy="2448936"/>
          </a:xfrm>
          <a:prstGeom prst="rect">
            <a:avLst/>
          </a:prstGeom>
        </p:spPr>
      </p:pic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490746"/>
            <a:ext cx="304800" cy="322326"/>
            <a:chOff x="215328" y="-46937"/>
            <a:chExt cx="304800" cy="2773841"/>
          </a:xfrm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Oval 125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7613133" y="3203130"/>
            <a:ext cx="1423414" cy="1423414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443978" y="3013607"/>
            <a:ext cx="4161833" cy="15971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Non-invasive electrode placement on stem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High-impedance recording (MΩ range)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Multi-channel acquisition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Continuous 48h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C38CD1F2-2CDE-4B42-BB23-EC7686F92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9827173-10F7-4BE6-8CC8-39A46D78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0FB2829-9E66-4DBD-BC15-FC5D73246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9EE2A32-8611-4375-B6B1-468FAD682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77E1DA0-3927-4F35-B8A3-D5D5563757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7BAA08B-588E-406F-899B-A6A7FC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8AA7C41-B331-402E-9453-95B3B8273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7060B3E-946D-4885-9B86-1D445209EB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3046747-F284-4990-9ECA-3DF2C6E08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21301226-F3C6-4744-94AE-2460B381D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72230" y="473201"/>
            <a:ext cx="3830524" cy="157257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Electrophysiological Signals</a:t>
            </a:r>
            <a:endParaRPr lang="en-US" sz="3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EC57637-D435-4155-993A-0E3A8BBBA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10" y="781954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B81AE96-B9C7-4679-BC62-F2C79F2E8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1116866"/>
            <a:ext cx="411480" cy="549007"/>
            <a:chOff x="7029447" y="3514725"/>
            <a:chExt cx="1285875" cy="54900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D4225F6-B312-47D5-8299-988BD17E0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3C04A86-BCAE-473C-B18D-88FD5627C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2CCD134-9351-4847-8741-FF5EAB470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1470C83-08EE-4959-BA0A-F8846F524E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BFD3A89-3666-47FE-913F-6C75228F5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6B60E5-039C-4E82-9B5C-984D6C46E1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3D05E89-A5D2-4DC0-B6B1-298EF0EF0A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337967A-8AB7-47D5-A75E-6341730E99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A068AD4-624D-4314-8C86-A3C0C3378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15C6E11A-AA00-7CC8-1F43-FD5E29CEF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184" y="1663388"/>
            <a:ext cx="6300658" cy="2778202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ACA2F7C3-1A69-44EE-A8B6-A4552E2C8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8687" y="2180485"/>
            <a:ext cx="304800" cy="322326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E44AF4D-8873-43B3-8E29-803B7720E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AE89E8A-BD14-4974-818A-D8382DCD4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21B80B9-448B-4363-9DD7-C074AB2AD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7DA34E7-83FB-4CAA-94F3-CEF086907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7A976E23-29EC-4E20-9EF6-B7CC4A821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5FCEC6-E657-46F1-925F-13ED19212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5BA8FCE-96F8-40B3-804C-10C27C02F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0593719-0C87-4B1E-B35D-0F97D2969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6F72299-2A02-44FA-A443-EFB406CF1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B09EF30-0043-45B4-B715-398AB3B37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0227CAF-D3D1-454C-A6E3-466111AB0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0B68C07-78C0-4A8D-8839-959B33F07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C367BC4-E8BC-458E-B0F6-2033296CF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 0"/>
          <p:cNvSpPr/>
          <p:nvPr/>
        </p:nvSpPr>
        <p:spPr>
          <a:xfrm>
            <a:off x="473202" y="473202"/>
            <a:ext cx="4172309" cy="197406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Signal Preprocessing</a:t>
            </a:r>
            <a:endParaRPr lang="en-US" sz="3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F0BDB76-BCEC-498E-BA26-C763CD9FA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10" y="781954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D8DF5DF-A251-4BC2-8965-4EDDD01FC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1116866"/>
            <a:ext cx="411480" cy="549007"/>
            <a:chOff x="7029447" y="3514725"/>
            <a:chExt cx="1285875" cy="549007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8930D52D-708D-43A1-B073-469EFDB02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82491CB-6849-43BB-926B-D979A3DB0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1251642-9512-4A11-9670-BD1C3A99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D277633-FF55-420D-87BC-0CB11FD6D0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1452CEF2-C9EC-4C15-99E4-C781AB08A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00459E6-26A3-4EAC-A34C-D0792D88C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264D5E9-C8D4-444A-8B1B-C11FB47CB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DD99233-66AB-4E60-AF8A-A3259E6A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64E8492A-EE2A-4BE3-A4B2-2BCE77DA4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222A220-AA24-4E60-83D6-D32FEB34D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1"/>
          <p:cNvSpPr/>
          <p:nvPr/>
        </p:nvSpPr>
        <p:spPr>
          <a:xfrm>
            <a:off x="423520" y="2206426"/>
            <a:ext cx="4172312" cy="212166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Notch filtering: 50 Hz and 100 Hz removal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Segment-based windowing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34 features per window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Min-max normalization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5" name="Picture 4" descr="A graph of a power spectrum&#10;&#10;AI-generated content may be incorrect.">
            <a:extLst>
              <a:ext uri="{FF2B5EF4-FFF2-40B4-BE49-F238E27FC236}">
                <a16:creationId xmlns:a16="http://schemas.microsoft.com/office/drawing/2014/main" id="{21C964D0-E83B-AB4A-602C-363883332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527" y="1835241"/>
            <a:ext cx="4136750" cy="2187026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94F13521-5DF8-4DF5-A0B9-A718234B3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302357" y="506410"/>
            <a:ext cx="304800" cy="322326"/>
            <a:chOff x="215328" y="-46937"/>
            <a:chExt cx="304800" cy="2773841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046D4DF8-1672-4FA2-9826-FE37087C6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B7A5B2F-EC14-4482-85C2-E1320F14D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F6FC815-E502-44E9-B346-1E771A5E2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1DCBABB-A77B-43CF-94EF-B785F32C4F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7775"/>
            <a:ext cx="7924800" cy="107632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24100"/>
            <a:ext cx="7924800" cy="107632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00425"/>
            <a:ext cx="7924800" cy="107632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(34 Features)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6375"/>
            <a:ext cx="7616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Domain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895475"/>
            <a:ext cx="7616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Statistics, Hjorth parameters, RMS, Hurst exponent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2552700"/>
            <a:ext cx="7616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Domain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971800"/>
            <a:ext cx="7616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centroid, RMS, spread, noise similarity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38200" y="3629025"/>
            <a:ext cx="7616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Time-Frequency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048125"/>
            <a:ext cx="7616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Wavelet packet entropy, Daubechies-8 coefficients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7776"/>
            <a:ext cx="7924800" cy="7239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21002"/>
            <a:ext cx="7924800" cy="7239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995613"/>
            <a:ext cx="7924800" cy="7239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770199"/>
            <a:ext cx="7924800" cy="7239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6375"/>
            <a:ext cx="7616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1743075"/>
            <a:ext cx="7616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SVC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138362"/>
            <a:ext cx="7616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" y="2371724"/>
            <a:ext cx="7616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NB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3144101"/>
            <a:ext cx="7616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200" y="3458766"/>
            <a:ext cx="7616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3847420"/>
            <a:ext cx="7616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8200" y="4164806"/>
            <a:ext cx="7616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Trees, Random Forest, HistGradientBoosting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B73D3AEB-8AA3-481D-9F6F-B80FE58DD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BD9FE98-387B-4EC6-A44D-C6F923034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CFB420D-223A-4357-AA4A-003C6C2A7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69B6719-4A3A-4DEC-A190-6611A41B4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CC65BFA3-0719-427B-8870-26748E61E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BB203FB-4E3E-4392-BC79-3EA2FEE31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A7C2D5BB-49AB-47DE-BA4F-97FAA5437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0" name="Oval 109">
            <a:extLst>
              <a:ext uri="{FF2B5EF4-FFF2-40B4-BE49-F238E27FC236}">
                <a16:creationId xmlns:a16="http://schemas.microsoft.com/office/drawing/2014/main" id="{205D069A-295F-435F-8B39-14D44D986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500000">
            <a:off x="74327" y="152709"/>
            <a:ext cx="4675355" cy="4675355"/>
          </a:xfrm>
          <a:prstGeom prst="ellipse">
            <a:avLst/>
          </a:prstGeom>
          <a:noFill/>
          <a:ln w="31750">
            <a:gradFill>
              <a:gsLst>
                <a:gs pos="0">
                  <a:schemeClr val="tx2">
                    <a:lumMod val="60000"/>
                    <a:lumOff val="40000"/>
                    <a:alpha val="20000"/>
                  </a:schemeClr>
                </a:gs>
                <a:gs pos="100000">
                  <a:schemeClr val="tx2">
                    <a:lumMod val="50000"/>
                    <a:alpha val="20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56748" y="1435014"/>
            <a:ext cx="3586649" cy="267530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Optimization Strategy</a:t>
            </a:r>
            <a:endParaRPr lang="en-US" sz="3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4925E00-1519-483D-BEDE-3DB840745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10" y="781954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86A47AA-3999-4EE6-BC5C-502DAE57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1116866"/>
            <a:ext cx="411480" cy="549007"/>
            <a:chOff x="7029447" y="3514725"/>
            <a:chExt cx="1285875" cy="549007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261D1278-3E86-430E-AC17-ECC407520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A6A6D283-6CA9-43BF-B874-D4398E7B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B0A4FFB-2DB0-4461-87AD-20DBE6BCE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38731F8-C740-4802-8967-656BE04E9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C26F14B-F98B-4B7D-AF0B-24D840F67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A745027-6B11-4363-8A2E-CB8EB38E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BA55DA09-A260-44A9-B1D9-FAC678AD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40D6225A-20C6-43EE-9E11-2D9FC1192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F11E7EE-ABBB-40C5-AD9F-7228BA656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AA5D5FF-9E03-4A84-8627-0E744F5FC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1"/>
          <p:cNvSpPr/>
          <p:nvPr/>
        </p:nvSpPr>
        <p:spPr>
          <a:xfrm>
            <a:off x="4717269" y="1435014"/>
            <a:ext cx="3893289" cy="273960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Consistent pipeline: normalization → feature selection → classification</a:t>
            </a:r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RandomizedSearchCV</a:t>
            </a:r>
            <a:r>
              <a:rPr lang="en-US" sz="1400" dirty="0">
                <a:solidFill>
                  <a:schemeClr val="bg1"/>
                </a:solidFill>
              </a:rPr>
              <a:t> with 3-fold stratified cross-validation</a:t>
            </a:r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Macro F1-score as primary evaluation metric</a:t>
            </a:r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SelectKBest</a:t>
            </a:r>
            <a:r>
              <a:rPr lang="en-US" sz="1400" dirty="0">
                <a:solidFill>
                  <a:schemeClr val="bg1"/>
                </a:solidFill>
              </a:rPr>
              <a:t> with ANOVA F-test for feature selection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495031" y="668739"/>
            <a:ext cx="3309016" cy="22730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Performance Comparison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graph of a test set&#10;&#10;AI-generated content may be incorrect.">
            <a:extLst>
              <a:ext uri="{FF2B5EF4-FFF2-40B4-BE49-F238E27FC236}">
                <a16:creationId xmlns:a16="http://schemas.microsoft.com/office/drawing/2014/main" id="{82E9B892-C6F1-5F94-10DA-D757D6751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340" y="1081952"/>
            <a:ext cx="4463815" cy="29795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7775"/>
            <a:ext cx="7924800" cy="20764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" y="1476375"/>
          <a:ext cx="7467600" cy="1619250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F1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PR-AUC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HistGBDT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0.9881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0.9992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0.9993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0.9742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0.9965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0.9969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Trees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0.9384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0.9855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0.9869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0.8800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0.9511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0.9536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Performance Metrics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7A976E23-29EC-4E20-9EF6-B7CC4A821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F5FCEC6-E657-46F1-925F-13ED19212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5BA8FCE-96F8-40B3-804C-10C27C02F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0593719-0C87-4B1E-B35D-0F97D2969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6F72299-2A02-44FA-A443-EFB406CF1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3B09EF30-0043-45B4-B715-398AB3B37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30227CAF-D3D1-454C-A6E3-466111AB0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90B68C07-78C0-4A8D-8839-959B33F07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6C367BC4-E8BC-458E-B0F6-2033296CF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 0"/>
          <p:cNvSpPr/>
          <p:nvPr/>
        </p:nvSpPr>
        <p:spPr>
          <a:xfrm>
            <a:off x="473202" y="473202"/>
            <a:ext cx="4172309" cy="197406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HistGradientBoosting Performance</a:t>
            </a:r>
            <a:endParaRPr lang="en-US" sz="3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F0BDB76-BCEC-498E-BA26-C763CD9FA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10" y="781954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D8DF5DF-A251-4BC2-8965-4EDDD01FC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1116866"/>
            <a:ext cx="411480" cy="549007"/>
            <a:chOff x="7029447" y="3514725"/>
            <a:chExt cx="1285875" cy="549007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930D52D-708D-43A1-B073-469EFDB02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82491CB-6849-43BB-926B-D979A3DB0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71251642-9512-4A11-9670-BD1C3A99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D277633-FF55-420D-87BC-0CB11FD6D0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Rectangle 89">
            <a:extLst>
              <a:ext uri="{FF2B5EF4-FFF2-40B4-BE49-F238E27FC236}">
                <a16:creationId xmlns:a16="http://schemas.microsoft.com/office/drawing/2014/main" id="{1452CEF2-C9EC-4C15-99E4-C781AB08A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00459E6-26A3-4EAC-A34C-D0792D88C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264D5E9-C8D4-444A-8B1B-C11FB47CB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3DD99233-66AB-4E60-AF8A-A3259E6A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4E8492A-EE2A-4BE3-A4B2-2BCE77DA4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222A220-AA24-4E60-83D6-D32FEB34D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1"/>
          <p:cNvSpPr/>
          <p:nvPr/>
        </p:nvSpPr>
        <p:spPr>
          <a:xfrm>
            <a:off x="473202" y="2571750"/>
            <a:ext cx="4172312" cy="212166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Overall accuracy: 98.64%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Normal: Precision 0.984, Recall 0.989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Stressed: Precision 0.989, Recall 0.984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Balanced performance</a:t>
            </a:r>
          </a:p>
        </p:txBody>
      </p:sp>
      <p:pic>
        <p:nvPicPr>
          <p:cNvPr id="5" name="Picture 4" descr="A chart of a normalized confusion matrix&#10;&#10;AI-generated content may be incorrect.">
            <a:extLst>
              <a:ext uri="{FF2B5EF4-FFF2-40B4-BE49-F238E27FC236}">
                <a16:creationId xmlns:a16="http://schemas.microsoft.com/office/drawing/2014/main" id="{0BE67838-65F6-E71B-CE91-AE19ACA1E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041" y="1178158"/>
            <a:ext cx="3100577" cy="2810283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94F13521-5DF8-4DF5-A0B9-A718234B3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302357" y="506410"/>
            <a:ext cx="304800" cy="322326"/>
            <a:chOff x="215328" y="-46937"/>
            <a:chExt cx="304800" cy="2773841"/>
          </a:xfrm>
        </p:grpSpPr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046D4DF8-1672-4FA2-9826-FE37087C6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B7A5B2F-EC14-4482-85C2-E1320F14D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F6FC815-E502-44E9-B346-1E771A5E2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1DCBABB-A77B-43CF-94EF-B785F32C4F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5CC5FF6-C911-4883-B5F7-F5F3E29A8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E2200F-ED39-40A1-A6F7-65A45ED6D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9B6C79-E122-4CC3-89D3-AC495A744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F913E1A-AA2E-486A-A9C9-5A0EC83DDC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02A347F-77B3-4993-835B-F7C4F3D9A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A136813-22B7-4F65-83FA-B0CD3DE30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1D551C5-7738-45E2-92E6-C372D8E49F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5F0AA2-AA26-4213-9599-3DCDB72DA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AE70576-4FFC-44BE-846C-9EB6DD9A1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 0"/>
          <p:cNvSpPr/>
          <p:nvPr/>
        </p:nvSpPr>
        <p:spPr>
          <a:xfrm>
            <a:off x="472230" y="473202"/>
            <a:ext cx="4289085" cy="20265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Decision Threshold Sensitivity</a:t>
            </a:r>
            <a:endParaRPr lang="en-US" sz="3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63B796-84D7-4069-93D0-7A496A03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10" y="781954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A77F8F-E829-4314-9F44-36169F754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1116866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8D18253-A2A5-4168-A077-5A4A9C532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AC9C54-D328-4591-AE19-1C4E335C7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74A6996-7D92-4A5D-B88C-3B3E56C69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0F18B95-9F0D-423C-9242-0FBEC72769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5AC4472-E842-4CF4-BD50-983305EDB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07958" y="4587642"/>
            <a:ext cx="964406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2EE92C3-E117-4FC2-A305-586C89CA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A6FE6FB-7083-4B79-B1FD-B08855376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6D5D4DA-BEE4-4C4F-9CA9-0D068AAB8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EB1644A-A3F6-44EF-AC1D-F2CB55C9F6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A4AE5E3E-9489-4D5A-A458-72C3E481C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E88FC08-D56F-45D4-AC54-B89F64697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A9CDF2D-7A78-4571-B1C1-857192D4A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E46C3A6-A8E2-4FBB-B6F8-FBEA0D905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D35E17C-3C3F-401E-875C-1BA82BBA5A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8C01EF9-F43C-4B12-BBF9-A20421C75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1"/>
          <p:cNvSpPr/>
          <p:nvPr/>
        </p:nvSpPr>
        <p:spPr>
          <a:xfrm>
            <a:off x="472231" y="2570615"/>
            <a:ext cx="3900530" cy="202651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Precision, recall, and F1-score remain high across wide threshold range</a:t>
            </a:r>
          </a:p>
        </p:txBody>
      </p:sp>
      <p:pic>
        <p:nvPicPr>
          <p:cNvPr id="5" name="Picture 4" descr="A graph of a test set&#10;&#10;AI-generated content may be incorrect.">
            <a:extLst>
              <a:ext uri="{FF2B5EF4-FFF2-40B4-BE49-F238E27FC236}">
                <a16:creationId xmlns:a16="http://schemas.microsoft.com/office/drawing/2014/main" id="{E4668413-408A-FFF0-4388-20468E2D4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241" y="1455920"/>
            <a:ext cx="3836181" cy="2378431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B138BDDD-D054-4F0A-BB1F-9D016848D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81885" y="489254"/>
            <a:ext cx="304800" cy="322326"/>
            <a:chOff x="215328" y="-46937"/>
            <a:chExt cx="304800" cy="2773841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CB9B538-BCFF-41C2-87A8-28853C399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D34C8C8-72AB-40F5-87DE-E7AE196F7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DA1E9C3-A70A-49DD-AD8F-5E768B24F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C92A81C-B9D6-4A1C-BE78-377104DBE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316" y="1123951"/>
            <a:ext cx="3302509" cy="2955131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ext 0"/>
          <p:cNvSpPr/>
          <p:nvPr/>
        </p:nvSpPr>
        <p:spPr>
          <a:xfrm>
            <a:off x="951095" y="1517668"/>
            <a:ext cx="2640949" cy="18684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Insights</a:t>
            </a:r>
            <a:endParaRPr lang="en-US" sz="3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3193560"/>
            <a:ext cx="3302508" cy="885521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3193560"/>
            <a:ext cx="3302508" cy="885521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4381" y="983316"/>
            <a:ext cx="3957637" cy="32454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Ensemble methods significantly outperform linear and probabilistic models</a:t>
            </a:r>
            <a:br>
              <a:rPr lang="en-US">
                <a:solidFill>
                  <a:schemeClr val="tx1">
                    <a:alpha val="80000"/>
                  </a:schemeClr>
                </a:solidFill>
              </a:rPr>
            </a:b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Feature selection critical: 50-200 features optimal</a:t>
            </a:r>
            <a:br>
              <a:rPr lang="en-US">
                <a:solidFill>
                  <a:schemeClr val="tx1">
                    <a:alpha val="80000"/>
                  </a:schemeClr>
                </a:solidFill>
              </a:rPr>
            </a:b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Multi-domain features capture complex plant responses</a:t>
            </a:r>
            <a:br>
              <a:rPr lang="en-US">
                <a:solidFill>
                  <a:schemeClr val="tx1">
                    <a:alpha val="80000"/>
                  </a:schemeClr>
                </a:solidFill>
              </a:rPr>
            </a:b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High threshold stability indicates robust predictions</a:t>
            </a:r>
            <a:endParaRPr lang="en-US" dirty="0">
              <a:solidFill>
                <a:schemeClr val="tx1">
                  <a:alpha val="80000"/>
                </a:schemeClr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3436144" cy="5143500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3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ext 0"/>
          <p:cNvSpPr/>
          <p:nvPr/>
        </p:nvSpPr>
        <p:spPr>
          <a:xfrm>
            <a:off x="620316" y="1231314"/>
            <a:ext cx="1991915" cy="24099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Limitations</a:t>
            </a:r>
            <a:endParaRPr lang="en-US" sz="3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924300" y="1291184"/>
            <a:ext cx="4605337" cy="29644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Controlled environment may limit real-world generalization</a:t>
            </a:r>
            <a:br>
              <a:rPr lang="en-US" dirty="0">
                <a:solidFill>
                  <a:schemeClr val="tx1">
                    <a:alpha val="80000"/>
                  </a:schemeClr>
                </a:solidFill>
              </a:rPr>
            </a:b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Handcrafted features may miss latent representations</a:t>
            </a:r>
            <a:br>
              <a:rPr lang="en-US" dirty="0">
                <a:solidFill>
                  <a:schemeClr val="tx1">
                    <a:alpha val="80000"/>
                  </a:schemeClr>
                </a:solidFill>
              </a:rPr>
            </a:b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Temporal correlation from windowing not explicitly modeled</a:t>
            </a:r>
            <a:br>
              <a:rPr lang="en-US" dirty="0">
                <a:solidFill>
                  <a:schemeClr val="tx1">
                    <a:alpha val="80000"/>
                  </a:schemeClr>
                </a:solidFill>
              </a:rPr>
            </a:b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Binary classification only (stress type not identified)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53B86A-3688-4590-934F-8CD074A9B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5600700" cy="51435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036222-7F97-43EF-AF1A-2B06BAC90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C638B7-C55E-4E8E-ABDC-CBD417F0D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7159AC2-C98F-4C93-B774-B19EE1BEB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27275" cy="51435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71700" y="742950"/>
            <a:ext cx="6972300" cy="3657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 0"/>
          <p:cNvSpPr/>
          <p:nvPr/>
        </p:nvSpPr>
        <p:spPr>
          <a:xfrm>
            <a:off x="2416575" y="990600"/>
            <a:ext cx="2841225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Future Directions</a:t>
            </a:r>
            <a:endParaRPr lang="en-US" sz="3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571750" y="1647825"/>
            <a:ext cx="6127750" cy="2628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Cross-species domain adaptation for better generalization</a:t>
            </a:r>
            <a:br>
              <a:rPr lang="en-US" dirty="0">
                <a:solidFill>
                  <a:schemeClr val="tx1">
                    <a:alpha val="55000"/>
                  </a:schemeClr>
                </a:solidFill>
              </a:rPr>
            </a:br>
            <a:endParaRPr lang="en-US" dirty="0">
              <a:solidFill>
                <a:schemeClr val="tx1">
                  <a:alpha val="55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End-to-end deep learning (transformers, CNNs)</a:t>
            </a:r>
            <a:br>
              <a:rPr lang="en-US" dirty="0">
                <a:solidFill>
                  <a:schemeClr val="tx1">
                    <a:alpha val="55000"/>
                  </a:schemeClr>
                </a:solidFill>
              </a:rPr>
            </a:br>
            <a:endParaRPr lang="en-US" dirty="0">
              <a:solidFill>
                <a:schemeClr val="tx1">
                  <a:alpha val="55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Multi-class classification: stress type and severity</a:t>
            </a:r>
            <a:br>
              <a:rPr lang="en-US" dirty="0">
                <a:solidFill>
                  <a:schemeClr val="tx1">
                    <a:alpha val="55000"/>
                  </a:schemeClr>
                </a:solidFill>
              </a:rPr>
            </a:br>
            <a:endParaRPr lang="en-US" dirty="0">
              <a:solidFill>
                <a:schemeClr val="tx1">
                  <a:alpha val="55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Real-time deployment for continuous monitoring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007781-1AEE-4FE2-8527-FF7B46F12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3998" cy="3200399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7F342F-8F86-41FC-A9DE-865B16F50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FA5174A-CE0B-42D0-8DA3-4E995C092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E35DE37-E5F4-4D1E-8AE0-8A7D46F3B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32004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742950"/>
            <a:ext cx="7429500" cy="3657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 0"/>
          <p:cNvSpPr/>
          <p:nvPr/>
        </p:nvSpPr>
        <p:spPr>
          <a:xfrm>
            <a:off x="828674" y="1142999"/>
            <a:ext cx="5086350" cy="13144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2475" y="2085973"/>
            <a:ext cx="6829426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chemeClr val="tx1">
                    <a:alpha val="55000"/>
                  </a:schemeClr>
                </a:solidFill>
                <a:latin typeface="+mn-lt"/>
                <a:ea typeface="+mn-ea"/>
                <a:cs typeface="+mn-cs"/>
              </a:rPr>
              <a:t>Complete ML pipeline for plant stress detection from electrophysiological signals</a:t>
            </a:r>
          </a:p>
        </p:txBody>
      </p:sp>
      <p:sp>
        <p:nvSpPr>
          <p:cNvPr id="4" name="Text 2"/>
          <p:cNvSpPr/>
          <p:nvPr/>
        </p:nvSpPr>
        <p:spPr>
          <a:xfrm>
            <a:off x="752474" y="3000374"/>
            <a:ext cx="7620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HistGradientBoosting achieves 98.81% F1-score</a:t>
            </a:r>
          </a:p>
          <a:p>
            <a:pPr marL="342900" indent="-342900">
              <a:lnSpc>
                <a:spcPts val="243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Demonstrates effectiveness of ML for agricultural monitoring</a:t>
            </a:r>
          </a:p>
          <a:p>
            <a:pPr marL="342900" indent="-342900">
              <a:lnSpc>
                <a:spcPts val="243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>
                    <a:alpha val="55000"/>
                  </a:schemeClr>
                </a:solidFill>
              </a:rPr>
              <a:t>Supports sustainable agriculture and precision farming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9765" y="1514475"/>
            <a:ext cx="250432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458" y="2362200"/>
            <a:ext cx="982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433983" y="3086100"/>
            <a:ext cx="42760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Zahra Nazar Zadeh Attar • Iman Javaheri Neyestanak • Kasra Alizadeh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00220" y="3267075"/>
            <a:ext cx="2343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in Green Infrastructure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52030" y="3448050"/>
            <a:ext cx="12399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Politecnico di Milano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537</Words>
  <Application>Microsoft Office PowerPoint</Application>
  <PresentationFormat>On-screen Show (16:9)</PresentationFormat>
  <Paragraphs>134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Iman Javaheri Neyestanak</cp:lastModifiedBy>
  <cp:revision>3</cp:revision>
  <dcterms:created xsi:type="dcterms:W3CDTF">2026-01-31T20:18:04Z</dcterms:created>
  <dcterms:modified xsi:type="dcterms:W3CDTF">2026-02-01T09:22:02Z</dcterms:modified>
</cp:coreProperties>
</file>